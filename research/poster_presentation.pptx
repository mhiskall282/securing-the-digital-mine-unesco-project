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9260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926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4389120"/>
          </a:xfrm>
          <a:prstGeom prst="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43891200" cy="9144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5943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UEW</a:t>
            </a:r>
          </a:p>
          <a:p>
            <a:r>
              <a:rPr sz="1300" b="1">
                <a:solidFill>
                  <a:srgbClr val="00A3E0"/>
                </a:solidFill>
                <a:latin typeface="Arial"/>
              </a:rPr>
              <a:t>UNIVERSITY OF EDUCATION,
WINNEBA, GHANA
&amp; KAYABA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0" y="274320"/>
            <a:ext cx="6126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>
                <a:solidFill>
                  <a:srgbClr val="FFD700"/>
                </a:solidFill>
                <a:latin typeface="Arial"/>
              </a:rPr>
              <a:t>UNESCO</a:t>
            </a:r>
          </a:p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Russian-African Forum
Track 3: Smart Subsoil
Saint Petersburg Mining Univ.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82880"/>
            <a:ext cx="30175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Securing the Digital Mine with a Metaheuristic-Optimized
Deep Learning Adaptive System</a:t>
            </a:r>
          </a:p>
          <a:p>
            <a:pPr algn="ctr">
              <a:spcBef>
                <a:spcPts val="400"/>
              </a:spcBef>
            </a:pPr>
            <a:r>
              <a:rPr sz="1600" b="1">
                <a:solidFill>
                  <a:srgbClr val="FFD700"/>
                </a:solidFill>
                <a:latin typeface="Times New Roman"/>
              </a:rPr>
              <a:t>John Okyere (Lead), Ezekeil Baah, Clement Baffour, Parker Paa Annobil, George Akwesi Bonnah</a:t>
            </a:r>
          </a:p>
          <a:p>
            <a:pPr algn="ctr"/>
            <a:r>
              <a:rPr sz="1300" i="1">
                <a:solidFill>
                  <a:srgbClr val="E2E8F0"/>
                </a:solidFill>
                <a:latin typeface="Times New Roman"/>
              </a:rPr>
              <a:t>Department of ICT, University of Education, Winneba &amp; Kayaba Labs | Saint Petersburg, Russia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1. Industrial Threat Landscape &amp;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13258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Smart Subsoil Digitalization: </a:t>
            </a:r>
            <a:r>
              <a:rPr sz="950">
                <a:solidFill>
                  <a:srgbClr val="0F172A"/>
                </a:solidFill>
                <a:latin typeface="Times New Roman"/>
              </a:rPr>
              <a:t>African and Russian mining operations integrate IoT sensors, SCADA telemetry, and automated milling to drive ore recovery in SAG mills, flotation circuits, and tailings dams.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Air-Gap Collapse: </a:t>
            </a:r>
            <a:r>
              <a:rPr sz="950">
                <a:solidFill>
                  <a:srgbClr val="0F172A"/>
                </a:solidFill>
                <a:latin typeface="Times New Roman"/>
              </a:rPr>
              <a:t>Connecting OT networks to cloud digital twins exposes unauthenticated Modbus RTU/TCP and DNP3 industrial protocols to hostile zero-day cyber attacks.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Downtime Losses: </a:t>
            </a:r>
            <a:r>
              <a:rPr sz="950">
                <a:solidFill>
                  <a:srgbClr val="0F172A"/>
                </a:solidFill>
                <a:latin typeface="Times New Roman"/>
              </a:rPr>
              <a:t>Unplanned mining downtime costs USD $50,000 to $500,000 per hour; cyber manipulation of ventilation or dewatering creates immediate life safety risks.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Failure of IT-Centric IDS: </a:t>
            </a:r>
            <a:r>
              <a:rPr sz="950">
                <a:solidFill>
                  <a:srgbClr val="0F172A"/>
                </a:solidFill>
                <a:latin typeface="Times New Roman"/>
              </a:rPr>
              <a:t>Traditional tools evaluate 41+ features taking 150+ ms, directly violating the 20 to 50 millisecond control loop deadlines of industrial PLCs.</a:t>
            </a:r>
          </a:p>
        </p:txBody>
      </p:sp>
      <p:pic>
        <p:nvPicPr>
          <p:cNvPr id="10" name="Picture 9" descr="mining_scad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772400"/>
            <a:ext cx="13258800" cy="6568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298448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2. Method &amp; BWOA Mathematics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487400"/>
            <a:ext cx="13258800" cy="1353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3670280"/>
            <a:ext cx="12893040" cy="1316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Data Ingestion Layer: </a:t>
            </a:r>
            <a:r>
              <a:rPr sz="950">
                <a:solidFill>
                  <a:srgbClr val="0F172A"/>
                </a:solidFill>
                <a:latin typeface="Times New Roman"/>
              </a:rPr>
              <a:t>Promiscuous packet capture using @mhiskall282/unesco-mine-sec-cli parsing IP/TCP/Modbus packet headers at wire speed without packet drops.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1. Shrinking Encircling Phase: </a:t>
            </a:r>
            <a:r>
              <a:rPr sz="950">
                <a:solidFill>
                  <a:srgbClr val="0F172A"/>
                </a:solidFill>
                <a:latin typeface="Times New Roman"/>
              </a:rPr>
              <a:t>D = |C * X*(t) - X(t)|,  X(t+1) = X*(t) - A * D
where A = 2a*r1 - a, C = 2*r2, and 'a' linearly decreases from 2 to 0 over iterations.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2. Spiral Bubble-Net Foraging: </a:t>
            </a:r>
            <a:r>
              <a:rPr sz="950">
                <a:solidFill>
                  <a:srgbClr val="0F172A"/>
                </a:solidFill>
                <a:latin typeface="Times New Roman"/>
              </a:rPr>
              <a:t>X(t+1) = D' * exp(b*l) * cos(2*pi*l) + X*(t)
where b=1.0, l is uniform in [-1, 1], mathematically modeling the helical hunting maneuver.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3. V-Shaped Binary Transfer Function: </a:t>
            </a:r>
            <a:r>
              <a:rPr sz="950">
                <a:solidFill>
                  <a:srgbClr val="0F172A"/>
                </a:solidFill>
                <a:latin typeface="Times New Roman"/>
              </a:rPr>
              <a:t>V(x) = |x / sqrt(1 + x^2)|,  X_d(t+1) = 1 - X_d(t) if rand() &lt; V(x_d) else X_d(t)
mapping continuous velocities to discrete stochastic bit-flips without boundary saturation.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4. Accuracy Floor Fitness Function: </a:t>
            </a:r>
            <a:r>
              <a:rPr sz="950">
                <a:solidFill>
                  <a:srgbClr val="0F172A"/>
                </a:solidFill>
                <a:latin typeface="Times New Roman"/>
              </a:rPr>
              <a:t>Fit(X) = alpha*(1 - Acc(X)) + (1-alpha)*(|X|/D) + Penalty(X)
where alpha=0.3 (70% weight on accuracy) and Penalty=1.0 if Acc &lt; 0.75 or |X| &lt; 10.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Spatial-Temporal CNN-LSTM Classifier: </a:t>
            </a:r>
            <a:r>
              <a:rPr sz="950">
                <a:solidFill>
                  <a:srgbClr val="0F172A"/>
                </a:solidFill>
                <a:latin typeface="Times New Roman"/>
              </a:rPr>
              <a:t>1D Convolutional layer (64 filters, kernel size 3) + BatchNorm + SpatialDropout(0.3) + LSTM (256 units) + Dense(64) + Softmax(5 classes).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• Float16 Edge Quantization: </a:t>
            </a:r>
            <a:r>
              <a:rPr sz="950">
                <a:solidFill>
                  <a:srgbClr val="0F172A"/>
                </a:solidFill>
                <a:latin typeface="Times New Roman"/>
              </a:rPr>
              <a:t>Post-training Float16 quantization compresses model memory footprint to 0.82 MB (83.2% reduction) for sub-millisecond execution on 1GB RAM edge gateways.</a:t>
            </a:r>
          </a:p>
        </p:txBody>
      </p:sp>
      <p:sp>
        <p:nvSpPr>
          <p:cNvPr id="14" name="Parallelogram 13"/>
          <p:cNvSpPr/>
          <p:nvPr/>
        </p:nvSpPr>
        <p:spPr>
          <a:xfrm>
            <a:off x="914400" y="27249120"/>
            <a:ext cx="548640" cy="100584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1737360" y="27249120"/>
            <a:ext cx="548640" cy="100584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2560320" y="27249120"/>
            <a:ext cx="548640" cy="100584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3383280" y="27249120"/>
            <a:ext cx="548640" cy="100584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4206240" y="27249120"/>
            <a:ext cx="548640" cy="100584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5029200" y="27249120"/>
            <a:ext cx="548640" cy="100584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5852160" y="27249120"/>
            <a:ext cx="548640" cy="100584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6675120" y="27249120"/>
            <a:ext cx="548640" cy="100584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16200" y="466344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3. 4-Layer System Architecture</a:t>
            </a:r>
          </a:p>
        </p:txBody>
      </p:sp>
      <p:pic>
        <p:nvPicPr>
          <p:cNvPr id="23" name="Picture 22" descr="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0" y="5212080"/>
            <a:ext cx="13258800" cy="77785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316200" y="1298448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4. BWOA Optimization Analysis</a:t>
            </a:r>
          </a:p>
        </p:txBody>
      </p:sp>
      <p:pic>
        <p:nvPicPr>
          <p:cNvPr id="25" name="Picture 24" descr="bwoa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6200" y="13533120"/>
            <a:ext cx="13258800" cy="828675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15316200" y="20116800"/>
            <a:ext cx="13258800" cy="6583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499080" y="20208240"/>
            <a:ext cx="128930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★ Optimal Feature Convergence: </a:t>
            </a:r>
            <a:r>
              <a:rPr sz="950">
                <a:solidFill>
                  <a:srgbClr val="0F172A"/>
                </a:solidFill>
                <a:latin typeface="Times New Roman"/>
              </a:rPr>
              <a:t>BWOA reached minimal fitness at iteration 23/100, maintaining 92.31% Random Forest 3-fold cross-validation accuracy on the selected 10-feature subset.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★ 75.61% Bandwidth Reduction: </a:t>
            </a:r>
            <a:r>
              <a:rPr sz="950">
                <a:solidFill>
                  <a:srgbClr val="0F172A"/>
                </a:solidFill>
                <a:latin typeface="Times New Roman"/>
              </a:rPr>
              <a:t>Pruned 31 uninformative features from 41, reducing network telemetry transmission load over low-bandwidth satellite links in African mines.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★ Selected 10 Vital Features: </a:t>
            </a:r>
            <a:r>
              <a:rPr sz="950">
                <a:solidFill>
                  <a:srgbClr val="0F172A"/>
                </a:solidFill>
                <a:latin typeface="Times New Roman"/>
              </a:rPr>
              <a:t>src_bytes (volume DoS), service &amp; flag (SCADA connection state), serror_rate &amp; diff_srv_rate (reconnaissance), hot &amp; su_attempted (privilege escalation).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529B"/>
                </a:solidFill>
                <a:latin typeface="Times New Roman"/>
              </a:rPr>
              <a:t>★ Transfer Learning Adaptability: </a:t>
            </a:r>
            <a:r>
              <a:rPr sz="950">
                <a:solidFill>
                  <a:srgbClr val="0F172A"/>
                </a:solidFill>
                <a:latin typeface="Times New Roman"/>
              </a:rPr>
              <a:t>Evaluated on the 51-sensor SWaT SCADA benchmark achieving 0.12ms inference latency and 0.8650 AUC-ROC, validating cross-domain industrial suitability.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0" y="466344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5. Empirical Hardware Latency Profile</a:t>
            </a:r>
          </a:p>
        </p:txBody>
      </p:sp>
      <p:pic>
        <p:nvPicPr>
          <p:cNvPr id="29" name="Picture 28" descr="latency_comparison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0" y="5212080"/>
            <a:ext cx="13258800" cy="73846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9718000" y="1133856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6. Multi-Class Confusion Matrix</a:t>
            </a:r>
          </a:p>
        </p:txBody>
      </p:sp>
      <p:pic>
        <p:nvPicPr>
          <p:cNvPr id="31" name="Picture 30" descr="confusion_matri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0" y="11887200"/>
            <a:ext cx="10515600" cy="10515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9718000" y="1810512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7. Conclusions &amp; UN SDG Impact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18000" y="18653760"/>
            <a:ext cx="13258800" cy="5486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00880" y="18745200"/>
            <a:ext cx="12893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</a:pPr>
            <a:r>
              <a:rPr b="1" sz="1000">
                <a:solidFill>
                  <a:srgbClr val="10B981"/>
                </a:solidFill>
                <a:latin typeface="Times New Roman"/>
              </a:rPr>
              <a:t>✓ 0.76ms Edge Real-Time: </a:t>
            </a:r>
            <a:r>
              <a:rPr sz="950">
                <a:solidFill>
                  <a:srgbClr val="0F172A"/>
                </a:solidFill>
                <a:latin typeface="Times New Roman"/>
              </a:rPr>
              <a:t>Executes single-sample inference in 0.76 ms on Raspberry Pi 4B (1GB RAM) - 207x faster than baseline, easily passing the sub-100ms SCADA limit.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10B981"/>
                </a:solidFill>
                <a:latin typeface="Times New Roman"/>
              </a:rPr>
              <a:t>✓ High Detection Fidelity: </a:t>
            </a:r>
            <a:r>
              <a:rPr sz="950">
                <a:solidFill>
                  <a:srgbClr val="0F172A"/>
                </a:solidFill>
                <a:latin typeface="Times New Roman"/>
              </a:rPr>
              <a:t>70.56% multi-class accuracy, 96.89% precision on benign telemetry (zero false plant shutdowns), 89.04% recall on DoS attacks.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10B981"/>
                </a:solidFill>
                <a:latin typeface="Times New Roman"/>
              </a:rPr>
              <a:t>✓ High Industrial ROI: </a:t>
            </a:r>
            <a:r>
              <a:rPr sz="950">
                <a:solidFill>
                  <a:srgbClr val="0F172A"/>
                </a:solidFill>
                <a:latin typeface="Times New Roman"/>
              </a:rPr>
              <a:t>200x-300x return averting $50k-$500k/hr outages while protecting miner lives against ventilation tampering (SDG 8 &amp; 9).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10B981"/>
                </a:solidFill>
                <a:latin typeface="Times New Roman"/>
              </a:rPr>
              <a:t>✓ Open-Source Ecosystem: </a:t>
            </a:r>
            <a:r>
              <a:rPr sz="950">
                <a:solidFill>
                  <a:srgbClr val="0F172A"/>
                </a:solidFill>
                <a:latin typeface="Times New Roman"/>
              </a:rPr>
              <a:t>NPM sniffer package '@mhiskall282/unesco-mine-sec-cli' and 75/75 automated unit test suites ensure complete reproducibility.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0" y="24688800"/>
            <a:ext cx="1325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29B"/>
                </a:solidFill>
                <a:latin typeface="Arial"/>
              </a:rPr>
              <a:t>8. References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0" y="25146000"/>
            <a:ext cx="1325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</a:pPr>
            <a:r>
              <a:rPr sz="850">
                <a:solidFill>
                  <a:srgbClr val="64748B"/>
                </a:solidFill>
                <a:latin typeface="Times New Roman"/>
              </a:rPr>
              <a:t>1. Alanazi, M., et al. (2022). SCADA vulnerabilities &amp; attacks. Computers &amp; Security, 125, 103028.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64748B"/>
                </a:solidFill>
                <a:latin typeface="Times New Roman"/>
              </a:rPr>
              <a:t>2. Almomani, O., et al. (2025). SCADA intrusion detection in IIoT. Symmetry, 17(4), 480.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64748B"/>
                </a:solidFill>
                <a:latin typeface="Times New Roman"/>
              </a:rPr>
              <a:t>3. Kheddar, H., et al. (2023). Deep transfer learning for intrusion detection in ICS. JNCA, 220, 103747.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64748B"/>
                </a:solidFill>
                <a:latin typeface="Times New Roman"/>
              </a:rPr>
              <a:t>4. Mirjalili, S., &amp; Lewis, A. (2016). Whale optimization algorithm. Advances in Eng. Software, 95, 51-67.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64748B"/>
                </a:solidFill>
                <a:latin typeface="Times New Roman"/>
              </a:rPr>
              <a:t>5. Minerals Commission of Ghana. (2024). Digital telemetry &amp; cybersecurity compliance policy guidelines.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