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5784" cy="49377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30275784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"/>
            <a:ext cx="28446984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0A3E0"/>
                </a:solidFill>
                <a:latin typeface="Arial"/>
              </a:rPr>
              <a:t>RUSSIAN-AFRICAN FORUM-CONTEST OF YOUNG SCIENTISTS 2026 | UNDER THE AUSPICES OF UNESCO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77240"/>
            <a:ext cx="2844698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D4AF37"/>
                </a:solidFill>
                <a:latin typeface="Arial"/>
              </a:rPr>
              <a:t>SECURING THE DIGITAL MINE</a:t>
            </a:r>
          </a:p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A Metaheuristic-Optimized Deep Learning Framework for Real-Time Intrusion Detection in IoT-Enabled Mineral 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28446984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Delegation: John Okyere (Lead), Ezekeil Baah, Clement Baffour, Parker Paa Annobil, George Akwesi Bonnah
</a:t>
            </a:r>
          </a:p>
          <a:p>
            <a:pPr algn="ctr"/>
            <a:r>
              <a:rPr sz="1400" i="1">
                <a:solidFill>
                  <a:srgbClr val="E2E8F0"/>
                </a:solidFill>
                <a:latin typeface="Times New Roman"/>
              </a:rPr>
              <a:t>Department of ICT, University of Education, Winneba &amp; Kayaba Labs | Track 3: Smart Subsoil | Saint Petersburg Mining University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212080"/>
            <a:ext cx="452628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4343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0B981"/>
                </a:solidFill>
                <a:latin typeface="Arial"/>
              </a:rPr>
              <a:t>0.76 ms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Arial"/>
              </a:rPr>
              <a:t>Edge Inference Latency
(207x Speedup vs Baseline)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5212080"/>
            <a:ext cx="452628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5394960"/>
            <a:ext cx="4343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00529B"/>
                </a:solidFill>
                <a:latin typeface="Arial"/>
              </a:rPr>
              <a:t>75.61%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Arial"/>
              </a:rPr>
              <a:t>Feature Pruning (41 -&gt; 10)
(BWOA Dimensionality Red.)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24160" y="5212080"/>
            <a:ext cx="452628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0" y="5394960"/>
            <a:ext cx="4343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00A3E0"/>
                </a:solidFill>
                <a:latin typeface="Arial"/>
              </a:rPr>
              <a:t>96.89%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Arial"/>
              </a:rPr>
              <a:t>Benign Flow Precision
(Zero False Production Halts)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224759" y="5212080"/>
            <a:ext cx="452628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316199" y="5394960"/>
            <a:ext cx="4343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DC2626"/>
                </a:solidFill>
                <a:latin typeface="Arial"/>
              </a:rPr>
              <a:t>89.04%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Arial"/>
              </a:rPr>
              <a:t>DoS Attack Recall
(Hardens SCADA PLCs)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025360" y="5212080"/>
            <a:ext cx="452628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0" y="5394960"/>
            <a:ext cx="4343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D4AF37"/>
                </a:solidFill>
                <a:latin typeface="Arial"/>
              </a:rPr>
              <a:t>0.82 MB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Arial"/>
              </a:rPr>
              <a:t>Float16 Quantized Size
(Runs on 1GB RAM Pi 4B)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825960" y="5212080"/>
            <a:ext cx="452628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B1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17400" y="5394960"/>
            <a:ext cx="4343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0B1D3A"/>
                </a:solidFill>
                <a:latin typeface="Arial"/>
              </a:rPr>
              <a:t>200x+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Arial"/>
              </a:rPr>
              <a:t>Estimated Industrial ROI
(Averts $50k-$500k/hr Loss)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7680960"/>
            <a:ext cx="9235440" cy="17190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7680960"/>
            <a:ext cx="9235440" cy="109728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777240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A3E0"/>
                </a:solidFill>
                <a:latin typeface="Arial"/>
              </a:rPr>
              <a:t>SECTION 1: INDUSTRIAL THREAT LANDSCAPE</a:t>
            </a:r>
          </a:p>
          <a:p>
            <a:r>
              <a:rPr sz="1800" b="1">
                <a:solidFill>
                  <a:srgbClr val="FFFFFF"/>
                </a:solidFill>
                <a:latin typeface="Arial"/>
              </a:rPr>
              <a:t>The Death of the Air-Gap in Smart Mines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8869680"/>
            <a:ext cx="8869680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400">
                <a:solidFill>
                  <a:srgbClr val="00529B"/>
                </a:solidFill>
              </a:rPr>
              <a:t>• Air-Gap Collapse: </a:t>
            </a:r>
            <a:r>
              <a:rPr sz="1350">
                <a:solidFill>
                  <a:srgbClr val="0F172A"/>
                </a:solidFill>
              </a:rPr>
              <a:t>Smart Subsoil digitalization connects SAG mills, froth flotation circuits, and tailings dams to cloud twins, exposing unauthenticated Modbus/DNP3 protocols to zero-day intrusion.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00529B"/>
                </a:solidFill>
              </a:rPr>
              <a:t>• Catastrophic Outage Costs: </a:t>
            </a:r>
            <a:r>
              <a:rPr sz="1350">
                <a:solidFill>
                  <a:srgbClr val="0F172A"/>
                </a:solidFill>
              </a:rPr>
              <a:t>Unplanned mining downtime costs USD $50,000 to $500,000 per hour. Tampering with toxic gas sensors or dewatering pumps creates severe life safety hazards.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00529B"/>
                </a:solidFill>
              </a:rPr>
              <a:t>• Traditional IDS Failures: </a:t>
            </a:r>
            <a:r>
              <a:rPr sz="1350">
                <a:solidFill>
                  <a:srgbClr val="0F172A"/>
                </a:solidFill>
              </a:rPr>
              <a:t>Heavyweight enterprise IDS tools require 150+ milliseconds to evaluate 41 features, violating the 20 to 50 millisecond control loop deadlines of industrial PLCs.</a:t>
            </a:r>
          </a:p>
        </p:txBody>
      </p:sp>
      <p:pic>
        <p:nvPicPr>
          <p:cNvPr id="24" name="Picture 23" descr="mining_scad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6276320"/>
            <a:ext cx="8869680" cy="4394153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22960" y="25237440"/>
            <a:ext cx="9235440" cy="17007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25237440"/>
            <a:ext cx="9235440" cy="109728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2532888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A3E0"/>
                </a:solidFill>
                <a:latin typeface="Arial"/>
              </a:rPr>
              <a:t>SECTION 2: RESEARCH METHODOLOGY</a:t>
            </a:r>
          </a:p>
          <a:p>
            <a:r>
              <a:rPr sz="1800" b="1">
                <a:solidFill>
                  <a:srgbClr val="FFFFFF"/>
                </a:solidFill>
                <a:latin typeface="Arial"/>
              </a:rPr>
              <a:t>Design Science Research (DSR) Execution</a:t>
            </a:r>
          </a:p>
        </p:txBody>
      </p:sp>
      <p:pic>
        <p:nvPicPr>
          <p:cNvPr id="28" name="Picture 27" descr="dsr_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517600"/>
            <a:ext cx="8869680" cy="365222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05840" y="34015680"/>
            <a:ext cx="8869680" cy="768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b="1" sz="1350">
                <a:solidFill>
                  <a:srgbClr val="10B981"/>
                </a:solidFill>
              </a:rPr>
              <a:t>✓ Stage 1 (Problem Identification): </a:t>
            </a:r>
            <a:r>
              <a:rPr sz="1300">
                <a:solidFill>
                  <a:srgbClr val="0F172A"/>
                </a:solidFill>
              </a:rPr>
              <a:t>Air-gap loss &amp; SCADA real-time deadlines in African/Russian mines.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10B981"/>
                </a:solidFill>
              </a:rPr>
              <a:t>✓ Stage 2 (Define Objectives): </a:t>
            </a:r>
            <a:r>
              <a:rPr sz="1300">
                <a:solidFill>
                  <a:srgbClr val="0F172A"/>
                </a:solidFill>
              </a:rPr>
              <a:t>Target &lt; 1.0 ms latency, &lt; 1.0 MB model size, 1GB RAM edge support.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10B981"/>
                </a:solidFill>
              </a:rPr>
              <a:t>✓ Stage 3 (Design &amp; Artifact): </a:t>
            </a:r>
            <a:r>
              <a:rPr sz="1300">
                <a:solidFill>
                  <a:srgbClr val="0F172A"/>
                </a:solidFill>
              </a:rPr>
              <a:t>BWOA metaheuristic + Conv1D-LSTM + Float16 quantization.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10B981"/>
                </a:solidFill>
              </a:rPr>
              <a:t>✓ Stage 4 (Demonstration): </a:t>
            </a:r>
            <a:r>
              <a:rPr sz="1300">
                <a:solidFill>
                  <a:srgbClr val="0F172A"/>
                </a:solidFill>
              </a:rPr>
              <a:t>Packaged global CLI agent (@mhiskall282/unesco-mine-sec-cli).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10B981"/>
                </a:solidFill>
              </a:rPr>
              <a:t>✓ Stage 5 (Evaluation): </a:t>
            </a:r>
            <a:r>
              <a:rPr sz="1300">
                <a:solidFill>
                  <a:srgbClr val="0F172A"/>
                </a:solidFill>
              </a:rPr>
              <a:t>NSL-KDD benchmark, SWaT transfer learning, and 75/75 unit test suites.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69880" y="7680960"/>
            <a:ext cx="9235440" cy="17190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469880" y="7680960"/>
            <a:ext cx="9235440" cy="109728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44200" y="777240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A3E0"/>
                </a:solidFill>
                <a:latin typeface="Arial"/>
              </a:rPr>
              <a:t>SECTION 3: TECHNOLOGICAL INNOVATION</a:t>
            </a:r>
          </a:p>
          <a:p>
            <a:r>
              <a:rPr sz="1800" b="1">
                <a:solidFill>
                  <a:srgbClr val="FFFFFF"/>
                </a:solidFill>
                <a:latin typeface="Arial"/>
              </a:rPr>
              <a:t>4-Layer Edge-to-Cloud Security Architecture</a:t>
            </a:r>
          </a:p>
        </p:txBody>
      </p:sp>
      <p:pic>
        <p:nvPicPr>
          <p:cNvPr id="33" name="Picture 32" descr="system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8961120"/>
            <a:ext cx="8869680" cy="520358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652760" y="18288000"/>
            <a:ext cx="8869680" cy="621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b="1" sz="1350">
                <a:solidFill>
                  <a:srgbClr val="00529B"/>
                </a:solidFill>
              </a:rPr>
              <a:t>■ Layer 1 (Ingestion): </a:t>
            </a:r>
            <a:r>
              <a:rPr sz="1300">
                <a:solidFill>
                  <a:srgbClr val="0F172A"/>
                </a:solidFill>
              </a:rPr>
              <a:t>Promiscuous packet sniffer capturing Modbus/TCP, DNP3, and OPC-UA streams.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00529B"/>
                </a:solidFill>
              </a:rPr>
              <a:t>■ Layer 2 (BWOA Pruning): </a:t>
            </a:r>
            <a:r>
              <a:rPr sz="1300">
                <a:solidFill>
                  <a:srgbClr val="0F172A"/>
                </a:solidFill>
              </a:rPr>
              <a:t>Metaheuristic optimizer prunes 41 features down to 10 vital signals.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00529B"/>
                </a:solidFill>
              </a:rPr>
              <a:t>■ Layer 3 (Deep Learning): </a:t>
            </a:r>
            <a:r>
              <a:rPr sz="1300">
                <a:solidFill>
                  <a:srgbClr val="0F172A"/>
                </a:solidFill>
              </a:rPr>
              <a:t>Spatial-temporal Conv1D-LSTM neural classifier quantized to Float16.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00529B"/>
                </a:solidFill>
              </a:rPr>
              <a:t>■ Layer 4 (SaaS Dashboard): </a:t>
            </a:r>
            <a:r>
              <a:rPr sz="1300">
                <a:solidFill>
                  <a:srgbClr val="0F172A"/>
                </a:solidFill>
              </a:rPr>
              <a:t>Multi-tenant Laravel Livewire console streaming sub-second alerts.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69880" y="25237440"/>
            <a:ext cx="9235440" cy="17007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469880" y="25237440"/>
            <a:ext cx="9235440" cy="109728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44200" y="2532888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A3E0"/>
                </a:solidFill>
                <a:latin typeface="Arial"/>
              </a:rPr>
              <a:t>SECTION 4: MATHEMATICAL OPTIMIZATION</a:t>
            </a:r>
          </a:p>
          <a:p>
            <a:r>
              <a:rPr sz="1800" b="1">
                <a:solidFill>
                  <a:srgbClr val="FFFFFF"/>
                </a:solidFill>
                <a:latin typeface="Arial"/>
              </a:rPr>
              <a:t>BWOA Convergence &amp; Neural Layout</a:t>
            </a:r>
          </a:p>
        </p:txBody>
      </p:sp>
      <p:pic>
        <p:nvPicPr>
          <p:cNvPr id="38" name="Picture 37" descr="bwoa_converg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26517600"/>
            <a:ext cx="8869680" cy="55435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652760" y="34015680"/>
            <a:ext cx="8869680" cy="768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b="1" sz="1350">
                <a:solidFill>
                  <a:srgbClr val="D4AF37"/>
                </a:solidFill>
              </a:rPr>
              <a:t>★ Encircling &amp; Bubble-Net: </a:t>
            </a:r>
            <a:r>
              <a:rPr sz="1300">
                <a:solidFill>
                  <a:srgbClr val="0F172A"/>
                </a:solidFill>
              </a:rPr>
              <a:t>whales adjust velocity using a V-shaped transfer function: V(x) = |x / sqrt(1 + x^2)|.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D4AF37"/>
                </a:solidFill>
              </a:rPr>
              <a:t>★ Accuracy Floor Constraint: </a:t>
            </a:r>
            <a:r>
              <a:rPr sz="1300">
                <a:solidFill>
                  <a:srgbClr val="0F172A"/>
                </a:solidFill>
              </a:rPr>
              <a:t>Enforces strict 75% accuracy floor with penalty weight alpha=0.3.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D4AF37"/>
                </a:solidFill>
              </a:rPr>
              <a:t>★ Selected 10 Features: </a:t>
            </a:r>
            <a:r>
              <a:rPr sz="1300">
                <a:solidFill>
                  <a:srgbClr val="0F172A"/>
                </a:solidFill>
              </a:rPr>
              <a:t>protocol_type, service, flag, src_bytes, hot, su_attempted, serror_rate, same_srv_rate, diff_srv_rate, dst_host_diff_srv_rate.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D4AF37"/>
                </a:solidFill>
              </a:rPr>
              <a:t>★ Convergence Speed: </a:t>
            </a:r>
            <a:r>
              <a:rPr sz="1300">
                <a:solidFill>
                  <a:srgbClr val="0F172A"/>
                </a:solidFill>
              </a:rPr>
              <a:t>Optimal 10-feature mask reached at iteration 23/100 (92.31% RF CV accuracy).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116800" y="7680960"/>
            <a:ext cx="9235440" cy="17190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116800" y="7680960"/>
            <a:ext cx="9235440" cy="109728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391120" y="777240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A3E0"/>
                </a:solidFill>
                <a:latin typeface="Arial"/>
              </a:rPr>
              <a:t>SECTION 5: EMPIRICAL BENCHMARKS</a:t>
            </a:r>
          </a:p>
          <a:p>
            <a:r>
              <a:rPr sz="1800" b="1">
                <a:solidFill>
                  <a:srgbClr val="FFFFFF"/>
                </a:solidFill>
                <a:latin typeface="Arial"/>
              </a:rPr>
              <a:t>Sub-Millisecond Edge Latency vs SCADA Limit</a:t>
            </a:r>
          </a:p>
        </p:txBody>
      </p:sp>
      <p:pic>
        <p:nvPicPr>
          <p:cNvPr id="43" name="Picture 42" descr="latency_comparison_bar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99680" y="8961120"/>
            <a:ext cx="8869680" cy="4940075"/>
          </a:xfrm>
          <a:prstGeom prst="rect">
            <a:avLst/>
          </a:prstGeom>
        </p:spPr>
      </p:pic>
      <p:pic>
        <p:nvPicPr>
          <p:cNvPr id="44" name="Picture 43" descr="confusion_matri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99680" y="17007840"/>
            <a:ext cx="8869680" cy="886968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20116800" y="25237440"/>
            <a:ext cx="9235440" cy="17007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0116800" y="25237440"/>
            <a:ext cx="9235440" cy="109728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391120" y="2532888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A3E0"/>
                </a:solidFill>
                <a:latin typeface="Arial"/>
              </a:rPr>
              <a:t>SECTION 6: SUSTAINABILITY &amp; ARTIFACTS</a:t>
            </a:r>
          </a:p>
          <a:p>
            <a:r>
              <a:rPr sz="1800" b="1">
                <a:solidFill>
                  <a:srgbClr val="FFFFFF"/>
                </a:solidFill>
                <a:latin typeface="Arial"/>
              </a:rPr>
              <a:t>UN SDG Impact &amp; Open-Source Ecosystem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299680" y="26517600"/>
            <a:ext cx="8869680" cy="1508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350">
                <a:solidFill>
                  <a:srgbClr val="00529B"/>
                </a:solidFill>
              </a:rPr>
              <a:t>◆ SDG 9 (Industry &amp; Innovation): </a:t>
            </a:r>
            <a:r>
              <a:rPr sz="1300">
                <a:solidFill>
                  <a:srgbClr val="0F172A"/>
                </a:solidFill>
              </a:rPr>
              <a:t>Hardens critical mining cyber-physical infrastructure against zero-day disruption, safeguarding global mineral supply chains.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00529B"/>
                </a:solidFill>
              </a:rPr>
              <a:t>◆ SDG 8 (Decent Work &amp; Safety): </a:t>
            </a:r>
            <a:r>
              <a:rPr sz="1300">
                <a:solidFill>
                  <a:srgbClr val="0F172A"/>
                </a:solidFill>
              </a:rPr>
              <a:t>Protects underground worker safety by preventing cyber manipulation of toxic gas sensors, scrubbers, and ventilation grids.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00529B"/>
                </a:solidFill>
              </a:rPr>
              <a:t>◆ SDG 17 (Partnerships for Goals): </a:t>
            </a:r>
            <a:r>
              <a:rPr sz="1300">
                <a:solidFill>
                  <a:srgbClr val="0F172A"/>
                </a:solidFill>
              </a:rPr>
              <a:t>Fosters bilateral Russian-African scientific collaboration, technology transfer, and local technical capacity building.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00529B"/>
                </a:solidFill>
              </a:rPr>
              <a:t>◆ High Economic ROI (200x - 300x): </a:t>
            </a:r>
            <a:r>
              <a:rPr sz="1300">
                <a:solidFill>
                  <a:srgbClr val="0F172A"/>
                </a:solidFill>
              </a:rPr>
              <a:t>Preventing a single 24-hour ransomware outage on a ball mill saves $300k to $450k against an annual IDS cost of &lt; $1,500.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00529B"/>
                </a:solidFill>
              </a:rPr>
              <a:t>◆ NPM Edge Sniffer CLI: </a:t>
            </a:r>
            <a:r>
              <a:rPr sz="1300">
                <a:solidFill>
                  <a:srgbClr val="0F172A"/>
                </a:solidFill>
              </a:rPr>
              <a:t>Install instantly on any gateway via 'npm install -g @mhiskall282/unesco-mine-sec-cli' from GitHub Packages.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00529B"/>
                </a:solidFill>
              </a:rPr>
              <a:t>◆ Source Code &amp; Reproducibility: </a:t>
            </a:r>
            <a:r>
              <a:rPr sz="1300">
                <a:solidFill>
                  <a:srgbClr val="0F172A"/>
                </a:solidFill>
              </a:rPr>
              <a:t>Complete repository, notebooks, and 75 unit test suites available at: https://github.com/mhiskall282/Securing-the-Digital-Mine-UNESCO-Project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