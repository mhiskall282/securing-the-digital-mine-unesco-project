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2743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2743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0" cy="5029200"/>
          </a:xfrm>
          <a:prstGeom prst="rect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37760"/>
            <a:ext cx="438912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48640"/>
            <a:ext cx="54864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Arial"/>
              </a:rPr>
              <a:t>UEW</a:t>
            </a:r>
          </a:p>
          <a:p>
            <a:r>
              <a:rPr sz="1300" b="1">
                <a:solidFill>
                  <a:srgbClr val="00A3E0"/>
                </a:solidFill>
                <a:latin typeface="Arial"/>
              </a:rPr>
              <a:t>UNIVERSITY OF EDUCATION,
WINNEBA, GHANA
&amp; KAYABA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0" y="54864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600" b="1">
                <a:solidFill>
                  <a:srgbClr val="FFD700"/>
                </a:solidFill>
                <a:latin typeface="Arial"/>
              </a:rPr>
              <a:t>UNESCO</a:t>
            </a:r>
          </a:p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Russian-African Forum
Track 3: Smart Subsoil
Saint Petersburg Mining Univ.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365760"/>
            <a:ext cx="30723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Securing the Digital Mine with a Metaheuristic-Optimized
Deep Learning Adaptive System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FFD700"/>
                </a:solidFill>
                <a:latin typeface="Arial"/>
              </a:rPr>
              <a:t>John Okyere, Ezekeil Baah, Clement Baffour, Parker Paa Annobil, George Akwesi Bonnah</a:t>
            </a:r>
          </a:p>
          <a:p>
            <a:pPr algn="ctr"/>
            <a:r>
              <a:rPr sz="1500">
                <a:solidFill>
                  <a:srgbClr val="E2E8F0"/>
                </a:solidFill>
                <a:latin typeface="Arial"/>
              </a:rPr>
              <a:t>Department of ICT, University of Education, Winneba &amp; Kayaba Labs | Saint Petersburg, Russia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529B"/>
                </a:solidFill>
                <a:latin typeface="Arial"/>
              </a:rPr>
              <a:t>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217920"/>
            <a:ext cx="13167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Mining 4.0 &amp; Smart Subsoil: African and Russian mineral extraction complexes are rapidly integrating IoT sensors, SCADA telemetry, and automated milling fleets to maximize ore recovery.</a:t>
            </a:r>
          </a:p>
          <a:p>
            <a:pPr>
              <a:spcAft>
                <a:spcPts val="8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The Air-Gap Myth: Connecting OT networks to enterprise analytics exposes unauthenticated Modbus RTU/TCP and DNP3 industrial protocols to hostile zero-day cyber intrusions.</a:t>
            </a:r>
          </a:p>
          <a:p>
            <a:pPr>
              <a:spcAft>
                <a:spcPts val="8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High Downtime Costs: Unplanned mining downtime costs between USD $50,000 and $500,000 per hour; cyber-physical disruption of ventilation or dewatering directly endangers human life.</a:t>
            </a:r>
          </a:p>
          <a:p>
            <a:pPr>
              <a:spcAft>
                <a:spcPts val="800"/>
              </a:spcAft>
              <a:defRPr sz="1450">
                <a:solidFill>
                  <a:srgbClr val="1E293B"/>
                </a:solidFill>
                <a:latin typeface="Arial"/>
              </a:defRPr>
            </a:pPr>
            <a:r>
              <a:t>• Failure of IT-Centric IDS: Enterprise security tools analyze 41+ features taking 150+ ms, directly violating the 20 to 50 millisecond control loop deadlines of industrial PLCs.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1704320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529B"/>
                </a:solidFill>
                <a:latin typeface="Arial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2435840"/>
            <a:ext cx="13167360" cy="1234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 b="1">
                <a:solidFill>
                  <a:srgbClr val="1E293B"/>
                </a:solidFill>
                <a:latin typeface="Arial"/>
              </a:rPr>
              <a:t>Our approach is built around four interconnected modules designed to operate in real-time on edge gateways: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0529B"/>
                </a:solidFill>
                <a:latin typeface="Arial"/>
              </a:rPr>
              <a:t>• Data Ingestion &amp; Extraction: </a:t>
            </a:r>
            <a:r>
              <a:rPr sz="1400">
                <a:solidFill>
                  <a:srgbClr val="1E293B"/>
                </a:solidFill>
                <a:latin typeface="Arial"/>
              </a:rPr>
              <a:t>Promiscuously captures raw network frames from SCADA interfaces at line speed using @mhiskall282/unesco-mine-sec-cli, parsing IP/TCP/Modbus packet headers without dropping packets.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0529B"/>
                </a:solidFill>
                <a:latin typeface="Arial"/>
              </a:rPr>
              <a:t>• BWOA Feature Pruning: </a:t>
            </a:r>
            <a:r>
              <a:rPr sz="1400">
                <a:solidFill>
                  <a:srgbClr val="1E293B"/>
                </a:solidFill>
                <a:latin typeface="Arial"/>
              </a:rPr>
              <a:t>Applies Binary Whale Optimization with a V-shaped transfer function and a 75% accuracy floor constraint, pruning input dimensions by 75.61% (from 41 down to 10 vital features).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0529B"/>
                </a:solidFill>
                <a:latin typeface="Arial"/>
              </a:rPr>
              <a:t>• Spatial-Temporal Classifier: </a:t>
            </a:r>
            <a:r>
              <a:rPr sz="1400">
                <a:solidFill>
                  <a:srgbClr val="1E293B"/>
                </a:solidFill>
                <a:latin typeface="Arial"/>
              </a:rPr>
              <a:t>Combines a 1D Convolutional Neural Network (Conv1D) layer for packet spatial feature extraction with Long Short-Term Memory (LSTM) cells for temporal state tracking.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0529B"/>
                </a:solidFill>
                <a:latin typeface="Arial"/>
              </a:rPr>
              <a:t>• Float16 Edge Quantization: </a:t>
            </a:r>
            <a:r>
              <a:rPr sz="1400">
                <a:solidFill>
                  <a:srgbClr val="1E293B"/>
                </a:solidFill>
                <a:latin typeface="Arial"/>
              </a:rPr>
              <a:t>Applies post-training Float16 weight quantization, compressing model memory footprint to 0.82 MB (83.2% compression) for sub-millisecond execution.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1097280" y="25420320"/>
            <a:ext cx="548640" cy="128016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920240" y="25420320"/>
            <a:ext cx="548640" cy="128016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2743200" y="25420320"/>
            <a:ext cx="548640" cy="128016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3566160" y="25420320"/>
            <a:ext cx="548640" cy="128016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4389120" y="25420320"/>
            <a:ext cx="548640" cy="128016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5212080" y="25420320"/>
            <a:ext cx="548640" cy="1280160"/>
          </a:xfrm>
          <a:prstGeom prst="parallelogram">
            <a:avLst/>
          </a:prstGeom>
          <a:solidFill>
            <a:srgbClr val="00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6035040" y="25420320"/>
            <a:ext cx="548640" cy="1280160"/>
          </a:xfrm>
          <a:prstGeom prst="parallelogram">
            <a:avLst/>
          </a:prstGeom>
          <a:solidFill>
            <a:srgbClr val="005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361920" y="5486400"/>
            <a:ext cx="1316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293B"/>
                </a:solidFill>
                <a:latin typeface="Arial"/>
              </a:rPr>
              <a:t>• Real-Time Edge Telemetry to Deep Learning Inference Pipeline:</a:t>
            </a:r>
          </a:p>
        </p:txBody>
      </p:sp>
      <p:pic>
        <p:nvPicPr>
          <p:cNvPr id="20" name="Picture 19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1920" y="6217920"/>
            <a:ext cx="13167360" cy="772490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361920" y="13533120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529B"/>
                </a:solidFill>
                <a:latin typeface="Arial"/>
              </a:rPr>
              <a:t>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361920" y="14264640"/>
            <a:ext cx="13167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400">
                <a:solidFill>
                  <a:srgbClr val="00529B"/>
                </a:solidFill>
                <a:latin typeface="Arial"/>
              </a:rPr>
              <a:t>• BWOA Convergence: </a:t>
            </a:r>
            <a:r>
              <a:rPr sz="1400">
                <a:solidFill>
                  <a:srgbClr val="1E293B"/>
                </a:solidFill>
                <a:latin typeface="Arial"/>
              </a:rPr>
              <a:t>BWOA optimization reached minimal fitness at iteration 23/100, maintaining 92.31% Random Forest cross-validation accuracy on the selected 10-feature subset.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00529B"/>
                </a:solidFill>
                <a:latin typeface="Arial"/>
              </a:rPr>
              <a:t>• Significant Dimension Reduction: </a:t>
            </a:r>
            <a:r>
              <a:rPr sz="1400">
                <a:solidFill>
                  <a:srgbClr val="1E293B"/>
                </a:solidFill>
                <a:latin typeface="Arial"/>
              </a:rPr>
              <a:t>Pruned 31 uninformative features, reducing bandwidth transmission overhead by 75.61% across low-bandwidth satellite links in African extraction sites.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00529B"/>
                </a:solidFill>
                <a:latin typeface="Arial"/>
              </a:rPr>
              <a:t>• Key Discriminative Signals: </a:t>
            </a:r>
            <a:r>
              <a:rPr sz="1400">
                <a:solidFill>
                  <a:srgbClr val="1E293B"/>
                </a:solidFill>
                <a:latin typeface="Arial"/>
              </a:rPr>
              <a:t>Selected features capture connection state (`service`, `flag`), volume asymmetry for DoS (`src_bytes`), privilege escalation (`hot`, `su_attempted`), and error rates (`serror_rate`, `same_srv_rate`).</a:t>
            </a:r>
          </a:p>
        </p:txBody>
      </p:sp>
      <p:pic>
        <p:nvPicPr>
          <p:cNvPr id="23" name="Picture 22" descr="bwoa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20" y="19933920"/>
            <a:ext cx="13167360" cy="8229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9626560" y="5486400"/>
            <a:ext cx="1316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E293B"/>
                </a:solidFill>
                <a:latin typeface="Arial"/>
              </a:rPr>
              <a:t>• Objective latency and multi-class benchmark evaluation on physical edge hardware (Raspberry Pi 4B, 1GB RAM):</a:t>
            </a:r>
          </a:p>
        </p:txBody>
      </p:sp>
      <p:pic>
        <p:nvPicPr>
          <p:cNvPr id="25" name="Picture 24" descr="latency_comparison_bar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0" y="6583680"/>
            <a:ext cx="13167360" cy="733371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9626560" y="13898880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529B"/>
                </a:solidFill>
                <a:latin typeface="Arial"/>
              </a:rPr>
              <a:t>Conclusions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626560" y="14630400"/>
            <a:ext cx="1316736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b="1" sz="1400">
                <a:solidFill>
                  <a:srgbClr val="10B981"/>
                </a:solidFill>
                <a:latin typeface="Arial"/>
              </a:rPr>
              <a:t>• Sub-Millisecond Edge Real-Time: </a:t>
            </a:r>
            <a:r>
              <a:rPr sz="1400">
                <a:solidFill>
                  <a:srgbClr val="1E293B"/>
                </a:solidFill>
                <a:latin typeface="Arial"/>
              </a:rPr>
              <a:t>Executes single-sample inference in 0.76 milliseconds on a Raspberry Pi 4B (207x faster than baseline), easily satisfying the sub-100ms industrial SCADA control loop deadline.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B981"/>
                </a:solidFill>
                <a:latin typeface="Arial"/>
              </a:rPr>
              <a:t>• High Detection Fidelity: </a:t>
            </a:r>
            <a:r>
              <a:rPr sz="1400">
                <a:solidFill>
                  <a:srgbClr val="1E293B"/>
                </a:solidFill>
                <a:latin typeface="Arial"/>
              </a:rPr>
              <a:t>Delivers 70.56% multi-class accuracy, 96.89% precision on benign telemetry (preventing false alarms), and 89.04% recall on denial-of-service intrusions.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B981"/>
                </a:solidFill>
                <a:latin typeface="Arial"/>
              </a:rPr>
              <a:t>• Economic &amp; Life Safety Impact: </a:t>
            </a:r>
            <a:r>
              <a:rPr sz="1400">
                <a:solidFill>
                  <a:srgbClr val="1E293B"/>
                </a:solidFill>
                <a:latin typeface="Arial"/>
              </a:rPr>
              <a:t>Provides 200x to 300x industrial ROI by preventing USD $50,000 to $500,000/hr downtime while safeguarding miner lives from toxic gas or ventilation manipulation (SDG 8 &amp; 9).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0B981"/>
                </a:solidFill>
                <a:latin typeface="Arial"/>
              </a:rPr>
              <a:t>• Open-Source Ecosystem: </a:t>
            </a:r>
            <a:r>
              <a:rPr sz="1400">
                <a:solidFill>
                  <a:srgbClr val="1E293B"/>
                </a:solidFill>
                <a:latin typeface="Arial"/>
              </a:rPr>
              <a:t>Fully open-source CLI agent (@mhiskall282/unesco-mine-sec-cli) and 75/75 automated unit test suites ensure complete reproducibility.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626560" y="21762720"/>
            <a:ext cx="13167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0529B"/>
                </a:solidFill>
                <a:latin typeface="Arial"/>
              </a:rPr>
              <a:t>References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626560" y="22402800"/>
            <a:ext cx="1316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300"/>
              </a:spcAft>
            </a:pPr>
            <a:r>
              <a:rPr sz="1000">
                <a:solidFill>
                  <a:srgbClr val="64748B"/>
                </a:solidFill>
                <a:latin typeface="Arial"/>
              </a:rPr>
              <a:t>1. Alanazi, M., et al. (2022). SCADA vulnerabilities and attacks: A review. Computers &amp; Security, 125, 103028.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64748B"/>
                </a:solidFill>
                <a:latin typeface="Arial"/>
              </a:rPr>
              <a:t>2. Almomani, O., et al. (2025). Cyberattack detection for SCADA in industrial IoT. Symmetry, 17(4), 480.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64748B"/>
                </a:solidFill>
                <a:latin typeface="Arial"/>
              </a:rPr>
              <a:t>3. Kheddar, H., et al. (2023). Deep transfer learning for intrusion detection in ICS. JNCA, 220, 103747.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64748B"/>
                </a:solidFill>
                <a:latin typeface="Arial"/>
              </a:rPr>
              <a:t>4. Mirjalili, S., &amp; Lewis, A. (2016). The whale optimization algorithm. Advances in Eng. Software, 95, 51-67.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64748B"/>
                </a:solidFill>
                <a:latin typeface="Arial"/>
              </a:rPr>
              <a:t>5. Minerals Commission of Ghana. (2024). Digital telemetry and cybersecurity compliance guidelines.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