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29260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2926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0" cy="4937760"/>
          </a:xfrm>
          <a:prstGeom prst="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438912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"/>
            <a:ext cx="59436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UEW</a:t>
            </a:r>
          </a:p>
          <a:p>
            <a:r>
              <a:rPr sz="1300" b="1">
                <a:solidFill>
                  <a:srgbClr val="00A3E0"/>
                </a:solidFill>
                <a:latin typeface="Arial"/>
              </a:rPr>
              <a:t>UNIVERSITY OF EDUCATION,
WINNEBA, GHANA
&amp; KAYABA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33200" y="457200"/>
            <a:ext cx="5943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>
                <a:solidFill>
                  <a:srgbClr val="FFD700"/>
                </a:solidFill>
                <a:latin typeface="Arial"/>
              </a:rPr>
              <a:t>UNESCO</a:t>
            </a:r>
          </a:p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Russian-African Forum
Track 3: Smart Subsoil
Saint Petersburg Mining Univ.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320040"/>
            <a:ext cx="2999231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Securing the Digital Mine with a Metaheuristic-Optimized
Deep Learning Adaptive Intrusion Detection System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D700"/>
                </a:solidFill>
                <a:latin typeface="Arial"/>
              </a:rPr>
              <a:t>John Okyere (Lead), Ezekeil Baah, Clement Baffour, Parker Paa Annobil, George Akwesi Bonnah</a:t>
            </a:r>
          </a:p>
          <a:p>
            <a:pPr algn="ctr"/>
            <a:r>
              <a:rPr sz="1400">
                <a:solidFill>
                  <a:srgbClr val="E2E8F0"/>
                </a:solidFill>
                <a:latin typeface="Arial"/>
              </a:rPr>
              <a:t>Department of ICT, University of Education, Winneba &amp; Kayaba Labs | Track 3: Smart Subsoil | Saint Petersburg, Russia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335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529B"/>
                </a:solidFill>
                <a:latin typeface="Arial"/>
              </a:rPr>
              <a:t>1. Industrial Threat Landscape &amp;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97880"/>
            <a:ext cx="13350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200">
                <a:solidFill>
                  <a:srgbClr val="00529B"/>
                </a:solidFill>
              </a:rPr>
              <a:t>• Smart Subsoil Paradigm: </a:t>
            </a:r>
            <a:r>
              <a:rPr sz="1150">
                <a:solidFill>
                  <a:srgbClr val="1E293B"/>
                </a:solidFill>
              </a:rPr>
              <a:t>African and Russian mining complexes are deploying IoT telemetry, autonomous haulage, and SCADA to maximize ore recovery in SAG mills, flotation circuits, and tailings dams.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0529B"/>
                </a:solidFill>
              </a:rPr>
              <a:t>• The Air-Gap Collapse: </a:t>
            </a:r>
            <a:r>
              <a:rPr sz="1150">
                <a:solidFill>
                  <a:srgbClr val="1E293B"/>
                </a:solidFill>
              </a:rPr>
              <a:t>Connecting operational technology (OT) to enterprise cloud analytics exposes unauthenticated Modbus RTU/TCP and DNP3 industrial protocols to hostile cyber intrusions.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0529B"/>
                </a:solidFill>
              </a:rPr>
              <a:t>• Downtime Losses &amp; Life Safety: </a:t>
            </a:r>
            <a:r>
              <a:rPr sz="1150">
                <a:solidFill>
                  <a:srgbClr val="1E293B"/>
                </a:solidFill>
              </a:rPr>
              <a:t>Unplanned mining downtime costs USD $50k-$500k/hr. Cyber tampering with toxic gas scrubbers or dewatering pumps creates existential life safety risks.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0529B"/>
                </a:solidFill>
              </a:rPr>
              <a:t>• Failure of IT-Centric IDS: </a:t>
            </a:r>
            <a:r>
              <a:rPr sz="1150">
                <a:solidFill>
                  <a:srgbClr val="1E293B"/>
                </a:solidFill>
              </a:rPr>
              <a:t>Traditional tools evaluate 41+ features taking 150+ ms, directly violating the 20 to 50 millisecond control loop deadlines of industrial PLCs.</a:t>
            </a:r>
          </a:p>
        </p:txBody>
      </p:sp>
      <p:pic>
        <p:nvPicPr>
          <p:cNvPr id="10" name="Picture 9" descr="mining_scada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372600"/>
            <a:ext cx="13350240" cy="6613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13578840"/>
            <a:ext cx="1335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529B"/>
                </a:solidFill>
                <a:latin typeface="Arial"/>
              </a:rPr>
              <a:t>2. Method &amp; BWOA Mathematics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4173200"/>
            <a:ext cx="13350240" cy="1463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b="1" sz="1200">
                <a:solidFill>
                  <a:srgbClr val="00529B"/>
                </a:solidFill>
              </a:rPr>
              <a:t>• Data Ingestion Layer: </a:t>
            </a:r>
            <a:r>
              <a:rPr sz="1150">
                <a:solidFill>
                  <a:srgbClr val="1E293B"/>
                </a:solidFill>
              </a:rPr>
              <a:t>Promiscuous packet capture using @mhiskall282/unesco-mine-sec-cli parsing IP/TCP/Modbus headers without packet drop.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0529B"/>
                </a:solidFill>
              </a:rPr>
              <a:t>• 1. Shrinking Encircling: </a:t>
            </a:r>
            <a:r>
              <a:rPr sz="1150">
                <a:solidFill>
                  <a:srgbClr val="1E293B"/>
                </a:solidFill>
              </a:rPr>
              <a:t>D = |C * X*(t) - X(t)|,  X(t+1) = X*(t) - A * D  (where A = 2a*r1 - a, C = 2*r2, and 'a' linearly decreases from 2 to 0).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0529B"/>
                </a:solidFill>
              </a:rPr>
              <a:t>• 2. Spiral Bubble-Net: </a:t>
            </a:r>
            <a:r>
              <a:rPr sz="1150">
                <a:solidFill>
                  <a:srgbClr val="1E293B"/>
                </a:solidFill>
              </a:rPr>
              <a:t>X(t+1) = D' * exp(b*l) * cos(2*pi*l) + X*(t)  (where b=1.0, l is uniform in [-1, 1], modeling humpback hunting).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0529B"/>
                </a:solidFill>
              </a:rPr>
              <a:t>• 3. V-Shaped Binary Transfer: </a:t>
            </a:r>
            <a:r>
              <a:rPr sz="1150">
                <a:solidFill>
                  <a:srgbClr val="1E293B"/>
                </a:solidFill>
              </a:rPr>
              <a:t>V(x) = |x / sqrt(1 + x^2)|,  X_d(t+1) = 1 - X_d(t) if rand() &lt; V(x_d) else X_d(t).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0529B"/>
                </a:solidFill>
              </a:rPr>
              <a:t>• 4. Accuracy Floor Fitness: </a:t>
            </a:r>
            <a:r>
              <a:rPr sz="1150">
                <a:solidFill>
                  <a:srgbClr val="1E293B"/>
                </a:solidFill>
              </a:rPr>
              <a:t>Fit(X) = alpha*(1 - Acc(X)) + (1-alpha)*(|X|/D) + Penalty  (alpha=0.3, Penalty=1.0 if Acc &lt; 0.75 or |X| &lt; 10).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0529B"/>
                </a:solidFill>
              </a:rPr>
              <a:t>• Spatial-Temporal Classifier: </a:t>
            </a:r>
            <a:r>
              <a:rPr sz="1150">
                <a:solidFill>
                  <a:srgbClr val="1E293B"/>
                </a:solidFill>
              </a:rPr>
              <a:t>Conv1D spatial feature extraction (64 filters) + LSTM temporal state tracking (256 units).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0529B"/>
                </a:solidFill>
              </a:rPr>
              <a:t>• Float16 Edge Quantization: </a:t>
            </a:r>
            <a:r>
              <a:rPr sz="1150">
                <a:solidFill>
                  <a:srgbClr val="1E293B"/>
                </a:solidFill>
              </a:rPr>
              <a:t>Compresses model to 0.82 MB (83.2% reduction) for sub-millisecond execution on 1GB RAM edge gateways.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914400" y="27249120"/>
            <a:ext cx="548640" cy="109728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1737360" y="27249120"/>
            <a:ext cx="548640" cy="1097280"/>
          </a:xfrm>
          <a:prstGeom prst="parallelogram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2560320" y="27249120"/>
            <a:ext cx="548640" cy="109728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3383280" y="27249120"/>
            <a:ext cx="548640" cy="1097280"/>
          </a:xfrm>
          <a:prstGeom prst="parallelogram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4206240" y="27249120"/>
            <a:ext cx="548640" cy="109728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5029200" y="27249120"/>
            <a:ext cx="548640" cy="1097280"/>
          </a:xfrm>
          <a:prstGeom prst="parallelogram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5852160" y="27249120"/>
            <a:ext cx="548640" cy="109728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6675120" y="27249120"/>
            <a:ext cx="548640" cy="1097280"/>
          </a:xfrm>
          <a:prstGeom prst="parallelogram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270480" y="5303520"/>
            <a:ext cx="1335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529B"/>
                </a:solidFill>
                <a:latin typeface="Arial"/>
              </a:rPr>
              <a:t>3. 4-Layer System Architecture</a:t>
            </a:r>
          </a:p>
        </p:txBody>
      </p:sp>
      <p:pic>
        <p:nvPicPr>
          <p:cNvPr id="22" name="Picture 21" descr="syste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5989320"/>
            <a:ext cx="13350240" cy="783219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270480" y="13578840"/>
            <a:ext cx="1335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529B"/>
                </a:solidFill>
                <a:latin typeface="Arial"/>
              </a:rPr>
              <a:t>4. BWOA Optimization Analysis</a:t>
            </a:r>
          </a:p>
        </p:txBody>
      </p:sp>
      <p:pic>
        <p:nvPicPr>
          <p:cNvPr id="24" name="Picture 23" descr="bwoa_converg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14173200"/>
            <a:ext cx="13350240" cy="83439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5270480" y="20528280"/>
            <a:ext cx="13350240" cy="73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</a:pPr>
            <a:r>
              <a:rPr b="1" sz="1200">
                <a:solidFill>
                  <a:srgbClr val="FFD700"/>
                </a:solidFill>
              </a:rPr>
              <a:t>★ Rapid Convergence: </a:t>
            </a:r>
            <a:r>
              <a:rPr sz="1150">
                <a:solidFill>
                  <a:srgbClr val="1E293B"/>
                </a:solidFill>
              </a:rPr>
              <a:t>Optimal 10-feature subset found at iteration 23/100, achieving 92.31% Random Forest 3-fold cross-validation accuracy.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FFD700"/>
                </a:solidFill>
              </a:rPr>
              <a:t>★ 75.61% Bandwidth Reduction: </a:t>
            </a:r>
            <a:r>
              <a:rPr sz="1150">
                <a:solidFill>
                  <a:srgbClr val="1E293B"/>
                </a:solidFill>
              </a:rPr>
              <a:t>Pruned 31 redundant attributes, minimizing transmission loads over low-bandwidth satellite links in remote African mines.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FFD700"/>
                </a:solidFill>
              </a:rPr>
              <a:t>★ Selected 10 Vital Features: </a:t>
            </a:r>
            <a:r>
              <a:rPr sz="1150">
                <a:solidFill>
                  <a:srgbClr val="1E293B"/>
                </a:solidFill>
              </a:rPr>
              <a:t>src_bytes (DoS volume), service &amp; flag (SCADA protocol state), serror_rate &amp; diff_srv_rate (reconnaissance), hot &amp; su_attempted (privilege escalation).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FFD700"/>
                </a:solidFill>
              </a:rPr>
              <a:t>★ CNN-LSTM Deep Learning Layout: </a:t>
            </a:r>
            <a:r>
              <a:rPr sz="1150">
                <a:solidFill>
                  <a:srgbClr val="1E293B"/>
                </a:solidFill>
              </a:rPr>
              <a:t>Conv1D (64 filters, kernel 3) + BatchNorm + SpatialDropout(0.3) + LSTM(256 units) + Dense(64) + Softmax(5 classes).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26560" y="5303520"/>
            <a:ext cx="1335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529B"/>
                </a:solidFill>
                <a:latin typeface="Arial"/>
              </a:rPr>
              <a:t>5. Empirical Evaluation &amp; Benchmarks</a:t>
            </a:r>
          </a:p>
        </p:txBody>
      </p:sp>
      <p:pic>
        <p:nvPicPr>
          <p:cNvPr id="27" name="Picture 26" descr="latency_comparison_bar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26560" y="5989320"/>
            <a:ext cx="13350240" cy="7435577"/>
          </a:xfrm>
          <a:prstGeom prst="rect">
            <a:avLst/>
          </a:prstGeom>
        </p:spPr>
      </p:pic>
      <p:pic>
        <p:nvPicPr>
          <p:cNvPr id="28" name="Picture 27" descr="confusion_matri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26560" y="12115800"/>
            <a:ext cx="13350240" cy="133502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9626560" y="18516600"/>
            <a:ext cx="1335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529B"/>
                </a:solidFill>
                <a:latin typeface="Arial"/>
              </a:rPr>
              <a:t>6. Conclusions &amp; UN SDG 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26560" y="19110960"/>
            <a:ext cx="1335024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200">
                <a:solidFill>
                  <a:srgbClr val="10B981"/>
                </a:solidFill>
              </a:rPr>
              <a:t>✓ 0.76ms Edge Real-Time: </a:t>
            </a:r>
            <a:r>
              <a:rPr sz="1150">
                <a:solidFill>
                  <a:srgbClr val="1E293B"/>
                </a:solidFill>
              </a:rPr>
              <a:t>Executes single-sample inference in 0.76 ms on Raspberry Pi 4B (1GB RAM) - 207x faster than baseline, easily passing the sub-100ms SCADA limit.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0B981"/>
                </a:solidFill>
              </a:rPr>
              <a:t>✓ High Detection Fidelity: </a:t>
            </a:r>
            <a:r>
              <a:rPr sz="1150">
                <a:solidFill>
                  <a:srgbClr val="1E293B"/>
                </a:solidFill>
              </a:rPr>
              <a:t>70.56% multi-class accuracy, 96.89% precision on benign telemetry (zero false production halts), 89.04% recall on DoS attacks.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0B981"/>
                </a:solidFill>
              </a:rPr>
              <a:t>✓ High Industrial ROI: </a:t>
            </a:r>
            <a:r>
              <a:rPr sz="1150">
                <a:solidFill>
                  <a:srgbClr val="1E293B"/>
                </a:solidFill>
              </a:rPr>
              <a:t>200x-300x return averting $50k-$500k/hr outages while protecting miner lives against ventilation tampering (SDG 8 &amp; 9).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0B981"/>
                </a:solidFill>
              </a:rPr>
              <a:t>✓ Open-Source Ecosystem: </a:t>
            </a:r>
            <a:r>
              <a:rPr sz="1150">
                <a:solidFill>
                  <a:srgbClr val="1E293B"/>
                </a:solidFill>
              </a:rPr>
              <a:t>NPM sniffer package '@mhiskall282/unesco-mine-sec-cli' and 75/75 passing unit test suites ensure complete reproducibility.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626560" y="25466040"/>
            <a:ext cx="1335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529B"/>
                </a:solidFill>
                <a:latin typeface="Arial"/>
              </a:rPr>
              <a:t>7. References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626560" y="25968960"/>
            <a:ext cx="13350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1. Alanazi, M., et al. (2022). SCADA vulnerabilities and attacks: A review. Computers &amp; Security, 125, 103028.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2. Almomani, O., et al. (2025). Cyberattack detection for SCADA in industrial IoT. Symmetry, 17(4), 480.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3. Kheddar, H., et al. (2023). Deep transfer learning for intrusion detection in ICS. JNCA, 220, 103747.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4. Mirjalili, S., &amp; Lewis, A. (2016). The whale optimization algorithm. Advances in Eng. Software, 95, 51-67.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5. Minerals Commission of Ghana. (2024). Digital telemetry &amp; cybersecurity compliance policy guidelines.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