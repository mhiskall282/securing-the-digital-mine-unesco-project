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428030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275784" cy="5303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12080"/>
            <a:ext cx="30275784" cy="10972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284469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D4AF37"/>
                </a:solidFill>
                <a:latin typeface="Arial"/>
              </a:rPr>
              <a:t>SECURING THE DIGITAL MINE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A Metaheuristic-Optimized Deep Learning Framework for Edge Intrusion Detection in IoT-Enabled Mineral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84469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3E0"/>
                </a:solidFill>
                <a:latin typeface="Arial"/>
              </a:rPr>
              <a:t>RUSSIAN-AFRICAN FORUM-CONTEST OF YOUNG SCIENTISTS 2026 | TRACK 3: SMART SUBSOIL
Under the Auspices of UNESCO | Empress Catherine II Saint Petersburg Mining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284469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FFFFFF"/>
                </a:solidFill>
                <a:latin typeface="Arial"/>
              </a:rPr>
              <a:t>John Okyere (Lead) • Ezekeil Baah • Clement Baffour • Parker Paa Annobil • George Akwesi Bonnah
Department of ICT, University of Education, Winneba &amp; Kayaba Labs | hello@johnokyere.xyz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760720"/>
            <a:ext cx="13716000" cy="10058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5760720"/>
            <a:ext cx="13716000" cy="100584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89788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1. PROBLEM &amp; INDUSTRIAL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6949440"/>
            <a:ext cx="13167360" cy="859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700">
                <a:solidFill>
                  <a:srgbClr val="00529B"/>
                </a:solidFill>
              </a:rPr>
              <a:t>• Digital Subsoil Transformation: </a:t>
            </a:r>
            <a:r>
              <a:rPr sz="1600">
                <a:solidFill>
                  <a:srgbClr val="1E293B"/>
                </a:solidFill>
              </a:rPr>
              <a:t>African and Russian mines are rapidly deploying IoT sensors, autonomous haulage, and SCADA telemetry to optimize ore yield.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00529B"/>
                </a:solidFill>
              </a:rPr>
              <a:t>• The Air-Gap Myth is Dead: </a:t>
            </a:r>
            <a:r>
              <a:rPr sz="1600">
                <a:solidFill>
                  <a:srgbClr val="1E293B"/>
                </a:solidFill>
              </a:rPr>
              <a:t>Connecting OT networks to cloud digital twins creates massive attack surfaces for ransomware and Modbus command injection.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00529B"/>
                </a:solidFill>
              </a:rPr>
              <a:t>• Catastrophic Downtime Costs: </a:t>
            </a:r>
            <a:r>
              <a:rPr sz="1600">
                <a:solidFill>
                  <a:srgbClr val="1E293B"/>
                </a:solidFill>
              </a:rPr>
              <a:t>Unplanned mining downtime costs USD $50,000 to $500,000 per hour, while cyber disruption of ventilation systems endangers human lives.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00529B"/>
                </a:solidFill>
              </a:rPr>
              <a:t>• Existing Tools Fail on the Edge: </a:t>
            </a:r>
            <a:r>
              <a:rPr sz="1600">
                <a:solidFill>
                  <a:srgbClr val="1E293B"/>
                </a:solidFill>
              </a:rPr>
              <a:t>Heavyweight enterprise IDS tools require 150+ milliseconds to analyze 41 features, violating the 100ms SCADA control loop limit on low-power 1GB RAM edge devices.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645384" y="5760720"/>
            <a:ext cx="13716000" cy="10058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645384" y="5760720"/>
            <a:ext cx="13716000" cy="100584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919704" y="589788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2. 4-LAYER SYSTEM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10559" y="6949440"/>
            <a:ext cx="1316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E293B"/>
                </a:solidFill>
              </a:rPr>
              <a:t>A complete edge-to-cloud security pipeline combining metaheuristic feature pruning with spatial-temporal deep learning:</a:t>
            </a:r>
          </a:p>
        </p:txBody>
      </p:sp>
      <p:pic>
        <p:nvPicPr>
          <p:cNvPr id="16" name="Picture 15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0559" y="9144000"/>
            <a:ext cx="13167360" cy="772490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14400" y="16276320"/>
            <a:ext cx="13716000" cy="1280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16276320"/>
            <a:ext cx="13716000" cy="100584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1641348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3. EXPERIMENTAL BENCHMARK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17465040"/>
            <a:ext cx="1316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700">
                <a:solidFill>
                  <a:srgbClr val="10B981"/>
                </a:solidFill>
              </a:rPr>
              <a:t>✓ 75.61% Data Pruning: </a:t>
            </a:r>
            <a:r>
              <a:rPr sz="1550">
                <a:solidFill>
                  <a:srgbClr val="1E293B"/>
                </a:solidFill>
              </a:rPr>
              <a:t>BWOA reduces 41 features down to 10 optimal dimensions while maintaining 92.31% Random Forest CV validation accuracy.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0B981"/>
                </a:solidFill>
              </a:rPr>
              <a:t>✓ 70.56% Multi-Class Accuracy: </a:t>
            </a:r>
            <a:r>
              <a:rPr sz="1550">
                <a:solidFill>
                  <a:srgbClr val="1E293B"/>
                </a:solidFill>
              </a:rPr>
              <a:t>Tested on 22,544 held-out NSL-KDD samples with 96.89% precision on Normal traffic and 89.04% recall on DoS attacks.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0B981"/>
                </a:solidFill>
              </a:rPr>
              <a:t>✓ 0.76ms Edge Latency: </a:t>
            </a:r>
            <a:r>
              <a:rPr sz="1550">
                <a:solidFill>
                  <a:srgbClr val="1E293B"/>
                </a:solidFill>
              </a:rPr>
              <a:t>Float16 quantized model executes 207x faster than baseline, easily passing the sub-100ms industrial SCADA constraint.</a:t>
            </a:r>
          </a:p>
        </p:txBody>
      </p:sp>
      <p:pic>
        <p:nvPicPr>
          <p:cNvPr id="21" name="Picture 20" descr="latency_comparison_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2128480"/>
            <a:ext cx="13167360" cy="7333719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5645384" y="16276320"/>
            <a:ext cx="13716000" cy="1280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5645384" y="16276320"/>
            <a:ext cx="13716000" cy="100584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919704" y="1641348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4. EDGE HARDWARE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10559" y="17465040"/>
            <a:ext cx="1316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E293B"/>
                </a:solidFill>
              </a:rPr>
              <a:t>Validated on Raspberry Pi 4B (1GB RAM) edge hardware for remote subsoil facilities: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910559" y="18653760"/>
            <a:ext cx="6400800" cy="228600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93439" y="18836640"/>
            <a:ext cx="6035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Arial"/>
              </a:rPr>
              <a:t>0.76 ms</a:t>
            </a:r>
          </a:p>
          <a:p>
            <a:pPr algn="ctr"/>
            <a:r>
              <a:rPr sz="1400">
                <a:solidFill>
                  <a:srgbClr val="1E293B"/>
                </a:solidFill>
                <a:latin typeface="Arial"/>
              </a:rPr>
              <a:t>Inference Latency
(Target: &lt; 100 ms)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585680" y="18653760"/>
            <a:ext cx="6400800" cy="228600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768560" y="18836640"/>
            <a:ext cx="6035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529B"/>
                </a:solidFill>
                <a:latin typeface="Arial"/>
              </a:rPr>
              <a:t>0.82 MB</a:t>
            </a:r>
          </a:p>
          <a:p>
            <a:pPr algn="ctr"/>
            <a:r>
              <a:rPr sz="1400">
                <a:solidFill>
                  <a:srgbClr val="1E293B"/>
                </a:solidFill>
                <a:latin typeface="Arial"/>
              </a:rPr>
              <a:t>Model Memory Size
(83.2% Compression)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910559" y="21214080"/>
            <a:ext cx="6400800" cy="228600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93439" y="21396960"/>
            <a:ext cx="6035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A3E0"/>
                </a:solidFill>
                <a:latin typeface="Arial"/>
              </a:rPr>
              <a:t>290 MB</a:t>
            </a:r>
          </a:p>
          <a:p>
            <a:pPr algn="ctr"/>
            <a:r>
              <a:rPr sz="1400">
                <a:solidFill>
                  <a:srgbClr val="1E293B"/>
                </a:solidFill>
                <a:latin typeface="Arial"/>
              </a:rPr>
              <a:t>Peak RAM Usage
(Fits 1GB Pi Gateway)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585680" y="21214080"/>
            <a:ext cx="6400800" cy="228600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768560" y="21396960"/>
            <a:ext cx="6035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D4AF37"/>
                </a:solidFill>
                <a:latin typeface="Arial"/>
              </a:rPr>
              <a:t>2.5 W</a:t>
            </a:r>
          </a:p>
          <a:p>
            <a:pPr algn="ctr"/>
            <a:r>
              <a:rPr sz="1400">
                <a:solidFill>
                  <a:srgbClr val="1E293B"/>
                </a:solidFill>
                <a:latin typeface="Arial"/>
              </a:rPr>
              <a:t>Power Consumption
(Solar/Battery Ready)</a:t>
            </a:r>
          </a:p>
        </p:txBody>
      </p:sp>
      <p:pic>
        <p:nvPicPr>
          <p:cNvPr id="34" name="Picture 33" descr="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0559" y="23957280"/>
            <a:ext cx="13167360" cy="1316736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914400" y="29535119"/>
            <a:ext cx="13716000" cy="1207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4400" y="29535119"/>
            <a:ext cx="13716000" cy="100584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29672279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5. ECONOMIC ROI &amp; UN SDG 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30723840"/>
            <a:ext cx="13167360" cy="1051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700">
                <a:solidFill>
                  <a:srgbClr val="D4AF37"/>
                </a:solidFill>
              </a:rPr>
              <a:t>★ SDG 9: Industry, Innovation &amp; Infrastructure
</a:t>
            </a:r>
            <a:r>
              <a:rPr sz="1500">
                <a:solidFill>
                  <a:srgbClr val="1E293B"/>
                </a:solidFill>
              </a:rPr>
              <a:t>Hardens critical mining cyber-physical systems against zero-day disruption, safeguarding essential mineral supply chains.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D4AF37"/>
                </a:solidFill>
              </a:rPr>
              <a:t>★ SDG 8: Decent Work &amp; Economic Growth
</a:t>
            </a:r>
            <a:r>
              <a:rPr sz="1500">
                <a:solidFill>
                  <a:srgbClr val="1E293B"/>
                </a:solidFill>
              </a:rPr>
              <a:t>Protects underground worker safety by preventing cyber manipulation of toxic gas sensors and ventilation grids.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D4AF37"/>
                </a:solidFill>
              </a:rPr>
              <a:t>★ SDG 17: Partnerships for the Goals
</a:t>
            </a:r>
            <a:r>
              <a:rPr sz="1500">
                <a:solidFill>
                  <a:srgbClr val="1E293B"/>
                </a:solidFill>
              </a:rPr>
              <a:t>Fosters bilateral Russian-African scientific collaboration, knowledge transfer, and open-source capacity building.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D4AF37"/>
                </a:solidFill>
              </a:rPr>
              <a:t>★ High Economic ROI (200x - 300x)
</a:t>
            </a:r>
            <a:r>
              <a:rPr sz="1500">
                <a:solidFill>
                  <a:srgbClr val="1E293B"/>
                </a:solidFill>
              </a:rPr>
              <a:t>Preventing a single 24-hour ransomware outage on a ball mill or autonomous truck saves $300k to $450k, against an annual deployment cost of under $1,500.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645384" y="29535119"/>
            <a:ext cx="13716000" cy="1207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5645384" y="29535119"/>
            <a:ext cx="13716000" cy="100584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919704" y="29672279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6. CONCLUSION &amp; OPEN SOURCE ARTIFACTS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910559" y="30723840"/>
            <a:ext cx="13167360" cy="1051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700">
                <a:solidFill>
                  <a:srgbClr val="00529B"/>
                </a:solidFill>
              </a:rPr>
              <a:t>► Complete Open-Source Ecosystem: </a:t>
            </a:r>
            <a:r>
              <a:rPr sz="1550">
                <a:solidFill>
                  <a:srgbClr val="1E293B"/>
                </a:solidFill>
              </a:rPr>
              <a:t>Full code, training notebooks, benchmarks, and 75 unit test suites are fully open source on GitHub.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0529B"/>
                </a:solidFill>
              </a:rPr>
              <a:t>► NPM Edge Sniffer Package: </a:t>
            </a:r>
            <a:r>
              <a:rPr sz="1550">
                <a:solidFill>
                  <a:srgbClr val="1E293B"/>
                </a:solidFill>
              </a:rPr>
              <a:t>Install instantly on any gateway via '@mhiskall282/unesco-mine-sec-cli' from GitHub Packages.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0529B"/>
                </a:solidFill>
              </a:rPr>
              <a:t>► UNESCO Forum Delegation: </a:t>
            </a:r>
            <a:r>
              <a:rPr sz="1550">
                <a:solidFill>
                  <a:srgbClr val="1E293B"/>
                </a:solidFill>
              </a:rPr>
              <a:t>Presented by the University of Education, Winneba &amp; Kayaba Labs research team at Empress Catherine II Saint Petersburg Mining University.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0529B"/>
                </a:solidFill>
              </a:rPr>
              <a:t>► Repository URL: </a:t>
            </a:r>
            <a:r>
              <a:rPr sz="1550">
                <a:solidFill>
                  <a:srgbClr val="1E293B"/>
                </a:solidFill>
              </a:rPr>
              <a:t>https://github.com/mhiskall282/Securing-the-Digital-Mine-UNESCO-Project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0529B"/>
                </a:solidFill>
              </a:rPr>
              <a:t>► Correspondence Email: </a:t>
            </a:r>
            <a:r>
              <a:rPr sz="1550">
                <a:solidFill>
                  <a:srgbClr val="1E293B"/>
                </a:solidFill>
              </a:rPr>
              <a:t>hello@johnokyere.xyz | Portfolio: https://johnokyere.xyz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